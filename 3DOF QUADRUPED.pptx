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74" r:id="rId3"/>
    <p:sldId id="273" r:id="rId4"/>
    <p:sldId id="268" r:id="rId5"/>
    <p:sldId id="259" r:id="rId6"/>
    <p:sldId id="270" r:id="rId7"/>
    <p:sldId id="260" r:id="rId8"/>
    <p:sldId id="271" r:id="rId9"/>
    <p:sldId id="275" r:id="rId10"/>
    <p:sldId id="272" r:id="rId11"/>
    <p:sldId id="265" r:id="rId12"/>
    <p:sldId id="266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24304-78B9-4E1E-A86F-ACF9B7C92D0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E5132-4E8B-4F26-938D-FFDEAA00B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52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7220d32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7220d32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7220d32c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7220d32c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5A-680D-48E4-9EC5-915E57CC3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34BE3-6C65-446F-9A9C-687073E3D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220C7-D471-4182-8431-2DFEC2A6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33A28-53E6-443B-AA83-1A384B3E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0FD51-AEF4-4273-972F-0D7161BD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02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8722-9398-4A65-A8BA-8DB0EDE3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6B30A-A1CE-4FDF-AE27-0D6E2BEBF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31D39-4A75-4F7D-BFA3-79C93CBD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9977F-6D2A-43F7-AC85-B48E6EB7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7F403-6861-4AF5-9CB4-95FAF4F5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05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F209-FC42-4B89-A515-3F94F2B0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200E9-7F11-446B-BB52-C72312E05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2C03A-79B5-4B3B-9735-2FA628D0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B255F-06BE-4441-BBFD-7A8AD854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D762-D2B0-4359-975C-3D20ECCA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99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9D0A-2433-443A-9DCD-221F9908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ECD2C-6429-48CF-8FF3-5B0C849A2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D4316-B047-4F02-80E7-6AD07B431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1062E-177C-4464-A0CA-DAD2CE9C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AB199-B3EE-41AB-9DF7-25E1F3AE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738CC-0029-490A-97D3-C0A1B520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22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5167-3A45-49B1-8F01-CC40616CA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C5BC5-18FB-427D-9206-60EC0AA4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2EF40-9CD5-403B-9A39-826481ADD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F61DD-B2AB-4C85-9042-D3EBE4BA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165B5-D91C-4DB5-8999-DACFD5BF2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5E12E-CD5C-4E03-A175-5715337B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87513-3729-4154-932A-4A968A91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F72AB-D16F-4C06-941B-0CF9F898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61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6B00-B402-4026-A93B-977B5AF1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BD7B1-348B-46F9-A10B-362CA5E3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27E25-5250-4E9B-8CF3-98C8C684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E71FD-70DF-4EDD-B6DC-9F877C1C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18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A6483-2B94-4163-A0B0-7EA45FDD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98E3E-C90D-4515-AB41-15910B0D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BEB98-DE47-4E15-BE77-9EEDC328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09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BB94-1A97-419F-823D-EA940593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ADE9-230C-433A-84F2-6442408C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91ABB-315D-45FB-AB8A-7503B0CA9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D7FB8-52CE-4006-ACC6-6970BE37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5E01C-D0F2-4544-BA66-55BB4BD8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8396F-F545-4A29-8E58-74FADA83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20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996F-1587-47D5-9652-F24E0D92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AD7B8-6D71-43D0-AF61-FAF229CCE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A3D42-D310-425E-83DC-EC84BE4F8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10F53-F440-4467-8661-9AD0E0BB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89CDC-E84F-422D-ACA9-898DEED4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BCA3B-92D7-488D-B50F-0172B398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06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777D-9CD5-4C5E-922A-0CDD7A43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A5487-D3A1-45D0-B162-E3405B740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16B0-F14C-46D5-96E1-20F46891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365D0-9131-428F-BFC2-5C9A20EE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D93EF-09AC-41C3-9655-D82A1793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94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7DCC3-DE5F-45C8-9896-D6842A390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4D86C-1192-4CED-9D58-5B89679D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82A31-C2A3-4BD1-AC2E-475E3588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DA6B7-10F2-4F89-9E05-77D19834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635B4-5171-4552-8E33-B6B7C7E7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882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3706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D139B-06C6-45EC-A5EA-4C678D11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D6D8A-CFC0-4C56-86AA-3BE1552A2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433C9-2891-4EEA-86A5-98290D59C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2A6AF-692A-4D30-A9CF-40F4C6DC4F4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DDB9F-A270-477C-82B1-E15F5E48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A00D0-51DC-47AB-91CC-D0757DC2B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A6D99-D240-4D77-A2DC-D9CE0A1CA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3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00" y="954233"/>
            <a:ext cx="11360800" cy="185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3DOF QUADRUPED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032067" y="2701033"/>
            <a:ext cx="6684400" cy="66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Inspired by Boston Dynamics’ Spot Mini 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6808200" y="4662334"/>
            <a:ext cx="5220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b="1">
                <a:solidFill>
                  <a:schemeClr val="dk2"/>
                </a:solidFill>
              </a:rPr>
              <a:t>Team members:</a:t>
            </a:r>
            <a:endParaRPr sz="2400" b="1">
              <a:solidFill>
                <a:schemeClr val="dk2"/>
              </a:solidFill>
            </a:endParaRPr>
          </a:p>
          <a:p>
            <a:r>
              <a:rPr lang="en" sz="2400">
                <a:solidFill>
                  <a:schemeClr val="dk2"/>
                </a:solidFill>
              </a:rPr>
              <a:t>Sikhi Chintalapati (SE25MROB007)</a:t>
            </a:r>
            <a:br>
              <a:rPr lang="en" sz="2400">
                <a:solidFill>
                  <a:schemeClr val="dk2"/>
                </a:solidFill>
              </a:rPr>
            </a:br>
            <a:r>
              <a:rPr lang="en" sz="2400">
                <a:solidFill>
                  <a:schemeClr val="dk2"/>
                </a:solidFill>
              </a:rPr>
              <a:t>Yasho Ravali P. (SE25MROB006)</a:t>
            </a:r>
            <a:endParaRPr sz="2400">
              <a:solidFill>
                <a:schemeClr val="dk2"/>
              </a:solidFill>
            </a:endParaRPr>
          </a:p>
          <a:p>
            <a:r>
              <a:rPr lang="en" sz="2400">
                <a:solidFill>
                  <a:schemeClr val="dk2"/>
                </a:solidFill>
              </a:rPr>
              <a:t>Galla Rishi (SE25MROB005)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57" name="Google Shape;57;p13" title="KWWURnX7_400x4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6466" y="69634"/>
            <a:ext cx="1406533" cy="140653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82700" y="4662333"/>
            <a:ext cx="4617200" cy="12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 b="1">
                <a:solidFill>
                  <a:schemeClr val="dk2"/>
                </a:solidFill>
              </a:rPr>
              <a:t>Mahindra University</a:t>
            </a:r>
            <a:endParaRPr sz="2400" b="1">
              <a:solidFill>
                <a:schemeClr val="dk2"/>
              </a:solidFill>
            </a:endParaRPr>
          </a:p>
          <a:p>
            <a:pPr algn="ctr"/>
            <a:r>
              <a:rPr lang="en" sz="2400">
                <a:solidFill>
                  <a:schemeClr val="dk2"/>
                </a:solidFill>
              </a:rPr>
              <a:t>Department of Mechanical</a:t>
            </a:r>
            <a:endParaRPr sz="2400">
              <a:solidFill>
                <a:schemeClr val="dk2"/>
              </a:solidFill>
            </a:endParaRPr>
          </a:p>
          <a:p>
            <a:pPr algn="ctr"/>
            <a:r>
              <a:rPr lang="en" sz="2400">
                <a:solidFill>
                  <a:schemeClr val="dk2"/>
                </a:solidFill>
              </a:rPr>
              <a:t>And</a:t>
            </a:r>
            <a:endParaRPr sz="2400">
              <a:solidFill>
                <a:schemeClr val="dk2"/>
              </a:solidFill>
            </a:endParaRPr>
          </a:p>
          <a:p>
            <a:pPr algn="ctr"/>
            <a:r>
              <a:rPr lang="en" sz="2400">
                <a:solidFill>
                  <a:schemeClr val="dk2"/>
                </a:solidFill>
              </a:rPr>
              <a:t>Aerospace Engineering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6835133" y="3827767"/>
            <a:ext cx="4864000" cy="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b="1">
                <a:solidFill>
                  <a:schemeClr val="dk2"/>
                </a:solidFill>
              </a:rPr>
              <a:t>Project Superviser:</a:t>
            </a:r>
            <a:endParaRPr sz="2400" b="1">
              <a:solidFill>
                <a:schemeClr val="dk2"/>
              </a:solidFill>
            </a:endParaRPr>
          </a:p>
          <a:p>
            <a:r>
              <a:rPr lang="en" sz="2400">
                <a:solidFill>
                  <a:schemeClr val="dk2"/>
                </a:solidFill>
              </a:rPr>
              <a:t>Dr. Deep Seth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9" name="Google Shape;76;p15" title="complete_1.jpg">
            <a:extLst>
              <a:ext uri="{FF2B5EF4-FFF2-40B4-BE49-F238E27FC236}">
                <a16:creationId xmlns:a16="http://schemas.microsoft.com/office/drawing/2014/main" id="{4D2CE62E-124F-4D41-8C9C-5CEE263571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70" y="2905488"/>
            <a:ext cx="3962400" cy="165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D3DC-BF50-48B1-B7EA-337BBD5E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96184"/>
            <a:ext cx="10515600" cy="1325563"/>
          </a:xfrm>
        </p:spPr>
        <p:txBody>
          <a:bodyPr/>
          <a:lstStyle/>
          <a:p>
            <a:r>
              <a:rPr lang="en-US" dirty="0"/>
              <a:t>Introduction and Background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58AF0-B92D-4886-9E24-BC70F8750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9" y="1057836"/>
            <a:ext cx="11932023" cy="58001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2FEE7A12-2417-4F3B-906F-2B9480536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880BCAC6-77FF-442D-B61D-C8A645A71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B8DA579B-6E75-4EF0-B23D-035754395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of SpotMicroAI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SpotMicroAI is an open-source quadruped robot inspired by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Boston Dynamics SpotMini.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developed as a low-cost platform for robotics research and education.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robot uses 3DOF legs, servo motors, Raspberry Pi, and ROS integration.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supports gait generation, walking, trotting, and inverse kinematics experiments.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35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3415-F0E8-4963-8740-F9A6C322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4DCD2F-5AB5-48F7-B515-1FA1A37F7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953600"/>
              </p:ext>
            </p:extLst>
          </p:nvPr>
        </p:nvGraphicFramePr>
        <p:xfrm>
          <a:off x="663388" y="1479176"/>
          <a:ext cx="10690411" cy="4459101"/>
        </p:xfrm>
        <a:graphic>
          <a:graphicData uri="http://schemas.openxmlformats.org/drawingml/2006/table">
            <a:tbl>
              <a:tblPr/>
              <a:tblGrid>
                <a:gridCol w="3569447">
                  <a:extLst>
                    <a:ext uri="{9D8B030D-6E8A-4147-A177-3AD203B41FA5}">
                      <a16:colId xmlns:a16="http://schemas.microsoft.com/office/drawing/2014/main" val="2320051521"/>
                    </a:ext>
                  </a:extLst>
                </a:gridCol>
                <a:gridCol w="3560482">
                  <a:extLst>
                    <a:ext uri="{9D8B030D-6E8A-4147-A177-3AD203B41FA5}">
                      <a16:colId xmlns:a16="http://schemas.microsoft.com/office/drawing/2014/main" val="2893227699"/>
                    </a:ext>
                  </a:extLst>
                </a:gridCol>
                <a:gridCol w="3560482">
                  <a:extLst>
                    <a:ext uri="{9D8B030D-6E8A-4147-A177-3AD203B41FA5}">
                      <a16:colId xmlns:a16="http://schemas.microsoft.com/office/drawing/2014/main" val="196861529"/>
                    </a:ext>
                  </a:extLst>
                </a:gridCol>
              </a:tblGrid>
              <a:tr h="302242">
                <a:tc>
                  <a:txBody>
                    <a:bodyPr/>
                    <a:lstStyle/>
                    <a:p>
                      <a:r>
                        <a:rPr lang="en-IN" sz="1400" dirty="0"/>
                        <a:t>Robot / Research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Features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Limitation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40319"/>
                  </a:ext>
                </a:extLst>
              </a:tr>
              <a:tr h="532301">
                <a:tc>
                  <a:txBody>
                    <a:bodyPr/>
                    <a:lstStyle/>
                    <a:p>
                      <a:r>
                        <a:rPr lang="en-IN" sz="1400" dirty="0"/>
                        <a:t>Boston Dynamics Spot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Dynamic locomotion, obstacle climbing, autonomous navigation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Very expensive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22667"/>
                  </a:ext>
                </a:extLst>
              </a:tr>
              <a:tr h="505282">
                <a:tc>
                  <a:txBody>
                    <a:bodyPr/>
                    <a:lstStyle/>
                    <a:p>
                      <a:r>
                        <a:rPr lang="en-IN" sz="1400" dirty="0"/>
                        <a:t>Unitree Robotics Go1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AI-based locomotion and vision system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Costly for research labs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399193"/>
                  </a:ext>
                </a:extLst>
              </a:tr>
              <a:tr h="302242">
                <a:tc>
                  <a:txBody>
                    <a:bodyPr/>
                    <a:lstStyle/>
                    <a:p>
                      <a:r>
                        <a:rPr lang="en-IN" sz="1400" dirty="0"/>
                        <a:t>MIT Mini Cheetah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High-speed running and backflips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Complex actuator design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853816"/>
                  </a:ext>
                </a:extLst>
              </a:tr>
              <a:tr h="505282">
                <a:tc>
                  <a:txBody>
                    <a:bodyPr/>
                    <a:lstStyle/>
                    <a:p>
                      <a:r>
                        <a:rPr lang="en-IN" sz="1400" dirty="0" err="1"/>
                        <a:t>ANYbotics</a:t>
                      </a:r>
                      <a:r>
                        <a:rPr lang="en-IN" sz="1400" dirty="0"/>
                        <a:t> </a:t>
                      </a:r>
                      <a:r>
                        <a:rPr lang="en-IN" sz="1400" dirty="0" err="1"/>
                        <a:t>ANYmal</a:t>
                      </a:r>
                      <a:endParaRPr lang="en-IN" sz="140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Industrial inspection and terrain adaptability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High computational complexity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388158"/>
                  </a:ext>
                </a:extLst>
              </a:tr>
              <a:tr h="505282">
                <a:tc>
                  <a:txBody>
                    <a:bodyPr/>
                    <a:lstStyle/>
                    <a:p>
                      <a:r>
                        <a:rPr lang="en-IN" sz="1400" dirty="0"/>
                        <a:t>Stanford Doggo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Low-cost educational quadruped robot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Limited stability at high speed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245096"/>
                  </a:ext>
                </a:extLst>
              </a:tr>
              <a:tr h="505282">
                <a:tc>
                  <a:txBody>
                    <a:bodyPr/>
                    <a:lstStyle/>
                    <a:p>
                      <a:r>
                        <a:rPr lang="en-IN" sz="1400"/>
                        <a:t>ROS-based Quadruped Research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Modular simulation and easy integration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Requires high processing power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942639"/>
                  </a:ext>
                </a:extLst>
              </a:tr>
              <a:tr h="505282">
                <a:tc>
                  <a:txBody>
                    <a:bodyPr/>
                    <a:lstStyle/>
                    <a:p>
                      <a:r>
                        <a:rPr lang="en-IN" sz="1400"/>
                        <a:t>Reinforcement Learning-based Quadrupeds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Adaptive gait generation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Large training data required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8006"/>
                  </a:ext>
                </a:extLst>
              </a:tr>
              <a:tr h="302242">
                <a:tc>
                  <a:txBody>
                    <a:bodyPr/>
                    <a:lstStyle/>
                    <a:p>
                      <a:r>
                        <a:rPr lang="en-IN" sz="1400"/>
                        <a:t>Hydraulic Quadruped Robots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High load carrying capability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Heavy and expensive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042132"/>
                  </a:ext>
                </a:extLst>
              </a:tr>
              <a:tr h="302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/>
                        <a:t>SpotMicroAI</a:t>
                      </a:r>
                      <a:endParaRPr lang="en-IN" sz="1400" dirty="0"/>
                    </a:p>
                    <a:p>
                      <a:endParaRPr lang="en-IN" sz="140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Open-source, low-cost quadruped platform</a:t>
                      </a:r>
                    </a:p>
                    <a:p>
                      <a:endParaRPr lang="en-IN" sz="140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Limited payload capacity</a:t>
                      </a:r>
                    </a:p>
                    <a:p>
                      <a:endParaRPr lang="en-IN" sz="140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027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1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3078-D55E-4BB8-9155-E59219EE0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Technological Gap and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152B5-8832-459B-B1B9-4C27AFC09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06" y="1479176"/>
            <a:ext cx="10618694" cy="469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Technological Gap:</a:t>
            </a:r>
          </a:p>
          <a:p>
            <a:r>
              <a:rPr lang="en-IN" dirty="0"/>
              <a:t>High cost quadruped systems</a:t>
            </a:r>
          </a:p>
          <a:p>
            <a:r>
              <a:rPr lang="en-IN" dirty="0"/>
              <a:t>Limited sensing integration in student projects</a:t>
            </a:r>
          </a:p>
          <a:p>
            <a:r>
              <a:rPr lang="en-IN" dirty="0"/>
              <a:t>Difficulty in gait synchronization</a:t>
            </a:r>
          </a:p>
          <a:p>
            <a:r>
              <a:rPr lang="en-IN" dirty="0"/>
              <a:t>Lack of autonomous obstacle awareness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Problem Statement:</a:t>
            </a:r>
          </a:p>
          <a:p>
            <a:r>
              <a:rPr lang="en-IN" dirty="0"/>
              <a:t>Develop a low-cost quadruped robot capable of trot gait locomotion and LiDAR-based obstacle detection using ROS2.</a:t>
            </a:r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F6DC0E0A-DD59-48C0-ADEF-969B1233737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0649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415600" y="3911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Objective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944470" y="1595717"/>
            <a:ext cx="7831929" cy="454761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342900" indent="-342900">
              <a:lnSpc>
                <a:spcPct val="95000"/>
              </a:lnSpc>
              <a:buFontTx/>
              <a:buChar char="-"/>
            </a:pPr>
            <a:r>
              <a:rPr lang="en-IN" sz="2439" dirty="0">
                <a:solidFill>
                  <a:schemeClr val="dk1"/>
                </a:solidFill>
              </a:rPr>
              <a:t>Develop quadruped robot platform</a:t>
            </a:r>
          </a:p>
          <a:p>
            <a:pPr marL="342900" indent="-342900">
              <a:lnSpc>
                <a:spcPct val="95000"/>
              </a:lnSpc>
              <a:buFontTx/>
              <a:buChar char="-"/>
            </a:pPr>
            <a:r>
              <a:rPr lang="en-IN" sz="2439" dirty="0">
                <a:solidFill>
                  <a:schemeClr val="dk1"/>
                </a:solidFill>
              </a:rPr>
              <a:t>Implement trot gait locomotion</a:t>
            </a:r>
          </a:p>
          <a:p>
            <a:pPr marL="342900" indent="-342900">
              <a:lnSpc>
                <a:spcPct val="95000"/>
              </a:lnSpc>
              <a:buFontTx/>
              <a:buChar char="-"/>
            </a:pPr>
            <a:r>
              <a:rPr lang="en-IN" sz="2439" dirty="0">
                <a:solidFill>
                  <a:schemeClr val="dk1"/>
                </a:solidFill>
              </a:rPr>
              <a:t>Interface servo motors using PCA9685</a:t>
            </a:r>
          </a:p>
          <a:p>
            <a:pPr marL="342900" indent="-342900">
              <a:lnSpc>
                <a:spcPct val="95000"/>
              </a:lnSpc>
              <a:buFontTx/>
              <a:buChar char="-"/>
            </a:pPr>
            <a:r>
              <a:rPr lang="en-IN" sz="2439" dirty="0">
                <a:solidFill>
                  <a:schemeClr val="dk1"/>
                </a:solidFill>
              </a:rPr>
              <a:t>Develop ROS2-based gait control- Integrate </a:t>
            </a:r>
            <a:r>
              <a:rPr lang="en-IN" sz="2439" dirty="0" err="1">
                <a:solidFill>
                  <a:schemeClr val="dk1"/>
                </a:solidFill>
              </a:rPr>
              <a:t>RPLiDAR</a:t>
            </a:r>
            <a:r>
              <a:rPr lang="en-IN" sz="2439" dirty="0">
                <a:solidFill>
                  <a:schemeClr val="dk1"/>
                </a:solidFill>
              </a:rPr>
              <a:t> A2</a:t>
            </a:r>
          </a:p>
          <a:p>
            <a:pPr marL="342900" indent="-342900">
              <a:lnSpc>
                <a:spcPct val="95000"/>
              </a:lnSpc>
              <a:buFontTx/>
              <a:buChar char="-"/>
            </a:pPr>
            <a:r>
              <a:rPr lang="en-IN" sz="2439" dirty="0">
                <a:solidFill>
                  <a:schemeClr val="dk1"/>
                </a:solidFill>
              </a:rPr>
              <a:t>Implement autonomous WALK/STOP </a:t>
            </a:r>
            <a:r>
              <a:rPr lang="en-IN" sz="2439" dirty="0" err="1">
                <a:solidFill>
                  <a:schemeClr val="dk1"/>
                </a:solidFill>
              </a:rPr>
              <a:t>behavior</a:t>
            </a:r>
            <a:endParaRPr sz="2439" dirty="0">
              <a:solidFill>
                <a:schemeClr val="dk1"/>
              </a:solidFill>
            </a:endParaRPr>
          </a:p>
        </p:txBody>
      </p:sp>
      <p:pic>
        <p:nvPicPr>
          <p:cNvPr id="77" name="Google Shape;77;p15" title="KWWURnX7_400x4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6466" y="15845"/>
            <a:ext cx="1406533" cy="14065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C3624-A40F-4036-A83E-679068564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52" y="2931458"/>
            <a:ext cx="3490031" cy="279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0B9A-5BFB-4858-8E19-C8DB1F31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Design and CAD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054EF-463A-4A1D-8CF7-18AE11FAB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Include:- </a:t>
            </a:r>
          </a:p>
          <a:p>
            <a:r>
              <a:rPr lang="en-US" dirty="0"/>
              <a:t>CAD images</a:t>
            </a:r>
          </a:p>
          <a:p>
            <a:r>
              <a:rPr lang="en-US" dirty="0"/>
              <a:t> 3D printed parts</a:t>
            </a:r>
          </a:p>
          <a:p>
            <a:r>
              <a:rPr lang="en-US" dirty="0"/>
              <a:t> Leg assembly images</a:t>
            </a:r>
            <a:endParaRPr lang="en-IN" dirty="0"/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7492D24C-2D4C-4DAF-927A-F036D1706B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15845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7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1149-F632-4BB1-BDE8-63A3607A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D792-F5D4-4ADC-BCF3-B63EFD28A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Raspberry Pi 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Servo Motors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Bluetooth Controller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Battery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3D Printed Legs</a:t>
            </a:r>
          </a:p>
          <a:p>
            <a:endParaRPr lang="en-IN" dirty="0"/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F2C288D8-4C71-4EDA-8131-97CEB1BE9BB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426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B2AA-E820-410E-AB78-3639F390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Experimentation: Servo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7D651-5D4B-47E2-A8EF-C4F8B04F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Servo calibration images</a:t>
            </a:r>
          </a:p>
          <a:p>
            <a:r>
              <a:rPr lang="en-IN" dirty="0"/>
              <a:t>PCA9685 setup </a:t>
            </a:r>
          </a:p>
          <a:p>
            <a:r>
              <a:rPr lang="en-IN" dirty="0"/>
              <a:t>Wiring setup</a:t>
            </a:r>
          </a:p>
          <a:p>
            <a:r>
              <a:rPr lang="en-IN" dirty="0"/>
              <a:t>Bullet points:- </a:t>
            </a:r>
          </a:p>
          <a:p>
            <a:r>
              <a:rPr lang="en-IN" dirty="0"/>
              <a:t>Neutral angle calibration</a:t>
            </a:r>
          </a:p>
          <a:p>
            <a:r>
              <a:rPr lang="en-IN" dirty="0"/>
              <a:t> PWM channel mapping</a:t>
            </a:r>
          </a:p>
          <a:p>
            <a:r>
              <a:rPr lang="en-IN" dirty="0"/>
              <a:t> Joint synchronization</a:t>
            </a:r>
          </a:p>
          <a:p>
            <a:r>
              <a:rPr lang="en-IN" dirty="0"/>
              <a:t> Power testing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719244F-C7FF-4FB7-95C8-A24D4BA7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201" y="1954306"/>
            <a:ext cx="2734712" cy="364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77;p15" title="KWWURnX7_400x400.jpg">
            <a:extLst>
              <a:ext uri="{FF2B5EF4-FFF2-40B4-BE49-F238E27FC236}">
                <a16:creationId xmlns:a16="http://schemas.microsoft.com/office/drawing/2014/main" id="{5BDDA2EB-2C7F-43BD-89E9-8919A31379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98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7E46-507D-405E-936C-7A4D2F71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965" y="203760"/>
            <a:ext cx="9820835" cy="629957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00C84-9915-409D-8F19-0CD82935D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76" y="726141"/>
            <a:ext cx="11932023" cy="606014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Flowchart:</a:t>
            </a:r>
          </a:p>
          <a:p>
            <a:r>
              <a:rPr lang="en-IN" dirty="0"/>
              <a:t>/scan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r>
              <a:rPr lang="en-IN" dirty="0"/>
              <a:t>lidar_decision.py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r>
              <a:rPr lang="en-IN" dirty="0"/>
              <a:t>/</a:t>
            </a:r>
            <a:r>
              <a:rPr lang="en-IN" dirty="0" err="1"/>
              <a:t>gait_mode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r>
              <a:rPr lang="en-IN" dirty="0"/>
              <a:t>lidar_walk.py</a:t>
            </a:r>
          </a:p>
          <a:p>
            <a:pPr marL="0" indent="0">
              <a:buNone/>
            </a:pPr>
            <a:r>
              <a:rPr lang="en-IN" dirty="0"/>
              <a:t>    ↓</a:t>
            </a:r>
          </a:p>
          <a:p>
            <a:r>
              <a:rPr lang="en-IN" dirty="0"/>
              <a:t>/</a:t>
            </a:r>
            <a:r>
              <a:rPr lang="en-IN" dirty="0" err="1"/>
              <a:t>joint_states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r>
              <a:rPr lang="en-IN" dirty="0"/>
              <a:t>all_leg_servo_driver.py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r>
              <a:rPr lang="en-IN" dirty="0"/>
              <a:t>Servo motors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Bullet points:- </a:t>
            </a:r>
          </a:p>
          <a:p>
            <a:r>
              <a:rPr lang="en-IN" dirty="0"/>
              <a:t>ROS2 Humble framework</a:t>
            </a:r>
          </a:p>
          <a:p>
            <a:r>
              <a:rPr lang="en-IN" dirty="0"/>
              <a:t> Python-based nodes</a:t>
            </a:r>
          </a:p>
          <a:p>
            <a:r>
              <a:rPr lang="en-IN" dirty="0"/>
              <a:t> Real-time topic communication</a:t>
            </a:r>
          </a:p>
          <a:p>
            <a:r>
              <a:rPr lang="en-IN" dirty="0"/>
              <a:t> Joint-space gait control</a:t>
            </a:r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6D0C9EAF-D3EF-42C1-B74D-03964C51F6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150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262A-B801-40D6-9F59-732CFA54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Experimentation: LiDAR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A9F63-7648-4977-9A9D-AD08A3087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LiDAR images</a:t>
            </a:r>
          </a:p>
          <a:p>
            <a:pPr marL="0" indent="0">
              <a:buNone/>
            </a:pPr>
            <a:r>
              <a:rPr lang="en-IN" dirty="0"/>
              <a:t> ROS2 terminal screenshots- </a:t>
            </a:r>
          </a:p>
          <a:p>
            <a:pPr marL="0" indent="0">
              <a:buNone/>
            </a:pPr>
            <a:r>
              <a:rPr lang="en-IN" dirty="0"/>
              <a:t>/scan topic output</a:t>
            </a:r>
          </a:p>
          <a:p>
            <a:pPr marL="0" indent="0">
              <a:buNone/>
            </a:pPr>
            <a:r>
              <a:rPr lang="en-IN" dirty="0"/>
              <a:t>Bullet points:- </a:t>
            </a:r>
          </a:p>
          <a:p>
            <a:pPr marL="0" indent="0">
              <a:buNone/>
            </a:pPr>
            <a:r>
              <a:rPr lang="en-IN" dirty="0" err="1"/>
              <a:t>RPLiDAR</a:t>
            </a:r>
            <a:r>
              <a:rPr lang="en-IN" dirty="0"/>
              <a:t> A2 integration</a:t>
            </a:r>
          </a:p>
          <a:p>
            <a:pPr marL="0" indent="0">
              <a:buNone/>
            </a:pPr>
            <a:r>
              <a:rPr lang="en-IN" dirty="0"/>
              <a:t> Real-time scan acquisition</a:t>
            </a:r>
          </a:p>
          <a:p>
            <a:pPr marL="0" indent="0">
              <a:buNone/>
            </a:pPr>
            <a:r>
              <a:rPr lang="en-IN" dirty="0"/>
              <a:t> Obstacle detection testing</a:t>
            </a:r>
          </a:p>
          <a:p>
            <a:pPr marL="0" indent="0">
              <a:buNone/>
            </a:pPr>
            <a:r>
              <a:rPr lang="en-IN" dirty="0"/>
              <a:t> WALK/STOP validation</a:t>
            </a:r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E410449E-0D8B-4F90-8BAE-214846E5146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5231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D9B3-96CE-4C99-9CDA-AEBF2155E4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Experimental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132B1-B298-4CE4-A1EB-8DAC016DF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F665A139-200E-4BDA-A17B-60CD45E71CC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44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5-12 at 10.54.14 PM">
            <a:hlinkClick r:id="" action="ppaction://media"/>
            <a:extLst>
              <a:ext uri="{FF2B5EF4-FFF2-40B4-BE49-F238E27FC236}">
                <a16:creationId xmlns:a16="http://schemas.microsoft.com/office/drawing/2014/main" id="{CF6343A5-C8C2-4B8A-AF19-81C3C2A0E6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06472" y="190500"/>
            <a:ext cx="4096870" cy="6477000"/>
          </a:xfrm>
          <a:prstGeom prst="rect">
            <a:avLst/>
          </a:prstGeom>
        </p:spPr>
      </p:pic>
      <p:pic>
        <p:nvPicPr>
          <p:cNvPr id="3" name="Google Shape;77;p15" title="KWWURnX7_400x400.jpg">
            <a:extLst>
              <a:ext uri="{FF2B5EF4-FFF2-40B4-BE49-F238E27FC236}">
                <a16:creationId xmlns:a16="http://schemas.microsoft.com/office/drawing/2014/main" id="{3999D8F2-3306-4CAD-A7C4-B8670FC3B44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826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3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2DCD-E284-4FC1-A2DE-C1CD5FBE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Locomotion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2B2E-EE30-4E3E-90EC-415AA26F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Locomotion Results:</a:t>
            </a:r>
          </a:p>
          <a:p>
            <a:r>
              <a:rPr lang="en-IN" dirty="0"/>
              <a:t>Stable trot gait achieved</a:t>
            </a:r>
          </a:p>
          <a:p>
            <a:r>
              <a:rPr lang="en-IN" dirty="0"/>
              <a:t>Walking motion demonstrated</a:t>
            </a:r>
          </a:p>
          <a:p>
            <a:r>
              <a:rPr lang="en-IN" dirty="0"/>
              <a:t>Servo synchronization verified</a:t>
            </a:r>
          </a:p>
          <a:p>
            <a:pPr marL="0" indent="0">
              <a:buNone/>
            </a:pPr>
            <a:r>
              <a:rPr lang="en-IN" dirty="0"/>
              <a:t>LiDAR Integration Results:</a:t>
            </a:r>
          </a:p>
          <a:p>
            <a:r>
              <a:rPr lang="en-IN" dirty="0"/>
              <a:t>Real-time LiDAR scan acquisition</a:t>
            </a:r>
          </a:p>
          <a:p>
            <a:r>
              <a:rPr lang="en-IN" dirty="0"/>
              <a:t>Obstacle detection achieved</a:t>
            </a:r>
          </a:p>
          <a:p>
            <a:r>
              <a:rPr lang="en-IN" dirty="0"/>
              <a:t>Autonomous WALK/STOP </a:t>
            </a:r>
            <a:r>
              <a:rPr lang="en-IN" dirty="0" err="1"/>
              <a:t>behavior</a:t>
            </a:r>
            <a:r>
              <a:rPr lang="en-IN" dirty="0"/>
              <a:t> verified</a:t>
            </a:r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0DEF3E1A-D622-489A-AC9E-1979E19011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74419" y="96528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042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A4FA-74EE-4EE3-AB02-2AE7B8AF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3DFE-48D6-4E85-BE34-29FEFDCF3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" y="1317812"/>
            <a:ext cx="10968318" cy="4859151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Mention: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 issues (Due to 3D prints)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Synchronization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Mechanical instability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fluctuations</a:t>
            </a:r>
          </a:p>
          <a:p>
            <a:endParaRPr lang="en-IN" dirty="0"/>
          </a:p>
        </p:txBody>
      </p:sp>
      <p:pic>
        <p:nvPicPr>
          <p:cNvPr id="4" name="Google Shape;77;p15" title="KWWURnX7_400x400.jpg">
            <a:extLst>
              <a:ext uri="{FF2B5EF4-FFF2-40B4-BE49-F238E27FC236}">
                <a16:creationId xmlns:a16="http://schemas.microsoft.com/office/drawing/2014/main" id="{978645E0-38F7-478C-BD38-32A177B03B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6466" y="42740"/>
            <a:ext cx="1406533" cy="140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0719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494</Words>
  <Application>Microsoft Office PowerPoint</Application>
  <PresentationFormat>Widescreen</PresentationFormat>
  <Paragraphs>134</Paragraphs>
  <Slides>14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3DOF QUADRUPED</vt:lpstr>
      <vt:lpstr>Introduction and Background</vt:lpstr>
      <vt:lpstr>Literature Survey</vt:lpstr>
      <vt:lpstr>Technological Gap and Problem Statement</vt:lpstr>
      <vt:lpstr>Objective</vt:lpstr>
      <vt:lpstr>Mechanical Design and CAD</vt:lpstr>
      <vt:lpstr>Hardware Architecture </vt:lpstr>
      <vt:lpstr>Experimentation: Servo Testing </vt:lpstr>
      <vt:lpstr>Software Architecture</vt:lpstr>
      <vt:lpstr>Experimentation: LiDAR Testing</vt:lpstr>
      <vt:lpstr>Experimental Results</vt:lpstr>
      <vt:lpstr>PowerPoint Presentation</vt:lpstr>
      <vt:lpstr>Results Locomotion</vt:lpstr>
      <vt:lpstr>Challenges Faced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3DOF QUADRUPED</dc:title>
  <dc:creator>Rishi</dc:creator>
  <cp:lastModifiedBy>Rishi</cp:lastModifiedBy>
  <cp:revision>9</cp:revision>
  <dcterms:created xsi:type="dcterms:W3CDTF">2026-05-13T06:39:05Z</dcterms:created>
  <dcterms:modified xsi:type="dcterms:W3CDTF">2026-05-13T08:31:06Z</dcterms:modified>
</cp:coreProperties>
</file>